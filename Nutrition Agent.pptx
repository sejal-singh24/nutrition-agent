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87" r:id="rId8"/>
    <p:sldId id="288"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p:scale>
          <a:sx n="50" d="100"/>
          <a:sy n="50" d="100"/>
        </p:scale>
        <p:origin x="1197" y="4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Sejal-Singh24/Nutrition-Agent"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ejal-Singh24/Nutrition-Agen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IN" b="1" dirty="0">
                <a:hlinkClick r:id="rId2"/>
              </a:rPr>
              <a:t>Nutrition-Agent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28744763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Sejal Singh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Sejalsingh344@gmail.com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8475087214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45090"/>
            <a:ext cx="9581177" cy="461665"/>
          </a:xfrm>
          <a:prstGeom prst="rect">
            <a:avLst/>
          </a:prstGeom>
          <a:noFill/>
        </p:spPr>
        <p:txBody>
          <a:bodyPr wrap="square" rtlCol="0">
            <a:spAutoFit/>
          </a:bodyPr>
          <a:lstStyle/>
          <a:p>
            <a:r>
              <a:rPr lang="en-US" sz="2400" b="1" dirty="0"/>
              <a:t>Project Tile – </a:t>
            </a:r>
            <a:r>
              <a:rPr lang="en-IN" b="1" dirty="0">
                <a:hlinkClick r:id="rId3"/>
              </a:rPr>
              <a:t>Nutrition-Agent</a:t>
            </a:r>
            <a:endParaRPr lang="en-IN" sz="2400" b="1" dirty="0"/>
          </a:p>
        </p:txBody>
      </p:sp>
      <p:pic>
        <p:nvPicPr>
          <p:cNvPr id="6" name="Picture 5">
            <a:extLst>
              <a:ext uri="{FF2B5EF4-FFF2-40B4-BE49-F238E27FC236}">
                <a16:creationId xmlns:a16="http://schemas.microsoft.com/office/drawing/2014/main" id="{8F2F290F-9149-3E82-8CF8-9D2CF451DDC2}"/>
              </a:ext>
            </a:extLst>
          </p:cNvPr>
          <p:cNvPicPr>
            <a:picLocks noChangeAspect="1"/>
          </p:cNvPicPr>
          <p:nvPr/>
        </p:nvPicPr>
        <p:blipFill>
          <a:blip r:embed="rId4"/>
          <a:stretch>
            <a:fillRect/>
          </a:stretch>
        </p:blipFill>
        <p:spPr>
          <a:xfrm>
            <a:off x="4087504" y="3627936"/>
            <a:ext cx="919932" cy="11395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185761"/>
          </a:xfrm>
          <a:prstGeom prst="rect">
            <a:avLst/>
          </a:prstGeom>
          <a:noFill/>
        </p:spPr>
        <p:txBody>
          <a:bodyPr wrap="square" rtlCol="0">
            <a:spAutoFit/>
          </a:bodyPr>
          <a:lstStyle/>
          <a:p>
            <a:r>
              <a:rPr lang="en-US" b="1" dirty="0"/>
              <a:t>Problem Statement : Nutrition Agent</a:t>
            </a:r>
          </a:p>
          <a:p>
            <a:endParaRPr lang="en-US" b="1" dirty="0"/>
          </a:p>
          <a:p>
            <a:r>
              <a:rPr lang="en-US" b="1" dirty="0"/>
              <a:t>The Challenge</a:t>
            </a:r>
            <a:r>
              <a:rPr lang="en-US" dirty="0"/>
              <a:t> 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a:t>
            </a:r>
          </a:p>
          <a:p>
            <a:r>
              <a:rPr lang="en-US" b="1" dirty="0"/>
              <a:t>The Objective</a:t>
            </a:r>
            <a:r>
              <a:rPr lang="en-US" dirty="0"/>
              <a:t> 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a:t>
            </a:r>
          </a:p>
          <a:p>
            <a:endParaRPr lang="en-US" dirty="0"/>
          </a:p>
          <a:p>
            <a:r>
              <a:rPr lang="en-US" b="1" dirty="0"/>
              <a:t>Personalized Diet Plans</a:t>
            </a:r>
            <a:r>
              <a:rPr lang="en-US" dirty="0"/>
              <a:t> – Recommend meals based on age, health conditions, allergies, cultural preferences, and fitness goals.</a:t>
            </a:r>
          </a:p>
          <a:p>
            <a:r>
              <a:rPr lang="en-US" b="1" dirty="0"/>
              <a:t>Food Data RAG Retrieval</a:t>
            </a:r>
            <a:r>
              <a:rPr lang="en-US" dirty="0"/>
              <a:t> – Fetch and summarize nutritional values (calories, macros, vitamins) from reliable sources.</a:t>
            </a:r>
          </a:p>
          <a:p>
            <a:r>
              <a:rPr lang="en-US" b="1" dirty="0"/>
              <a:t>Diet Tracking &amp; Feedback</a:t>
            </a:r>
            <a:r>
              <a:rPr lang="en-US" dirty="0"/>
              <a:t> – Allow users to log meals via text, images, or voice, and provide instant nutritional analysis.</a:t>
            </a:r>
          </a:p>
          <a:p>
            <a:r>
              <a:rPr lang="en-US" b="1" dirty="0"/>
              <a:t>Preventive Health Focus</a:t>
            </a:r>
            <a:r>
              <a:rPr lang="en-US" dirty="0"/>
              <a:t> – Suggest diets for chronic disease management (e.g., diabetes-friendly or heart-healthy plans).</a:t>
            </a:r>
          </a:p>
          <a:p>
            <a:r>
              <a:rPr lang="en-US" b="1" dirty="0"/>
              <a:t>Multi-Agent System</a:t>
            </a:r>
            <a:r>
              <a:rPr lang="en-US" dirty="0"/>
              <a:t> –</a:t>
            </a:r>
          </a:p>
          <a:p>
            <a:r>
              <a:rPr lang="en-US" b="1" dirty="0"/>
              <a:t>Nutrition Knowledge Agent</a:t>
            </a:r>
            <a:r>
              <a:rPr lang="en-US" dirty="0"/>
              <a:t> (fetches nutritional data)</a:t>
            </a:r>
          </a:p>
          <a:p>
            <a:r>
              <a:rPr lang="en-US" b="1" dirty="0"/>
              <a:t>Diet Recommendation Agent</a:t>
            </a:r>
            <a:r>
              <a:rPr lang="en-US" dirty="0"/>
              <a:t> (personalized meal plans)</a:t>
            </a:r>
          </a:p>
          <a:p>
            <a:r>
              <a:rPr lang="en-US" b="1" dirty="0"/>
              <a:t>Health Advisory Agent</a:t>
            </a:r>
            <a:r>
              <a:rPr lang="en-US" dirty="0"/>
              <a:t> (preventive health suggestions)</a:t>
            </a:r>
          </a:p>
          <a:p>
            <a:r>
              <a:rPr lang="en-US" b="1" dirty="0"/>
              <a:t>Food Log &amp; Feedback Agent</a:t>
            </a:r>
            <a:r>
              <a:rPr lang="en-US" dirty="0"/>
              <a:t> (meal tracking + analysis)</a:t>
            </a:r>
          </a:p>
          <a:p>
            <a:r>
              <a:rPr lang="en-US" b="1" dirty="0"/>
              <a:t>Visualization Dashboard</a:t>
            </a:r>
            <a:r>
              <a:rPr lang="en-US" dirty="0"/>
              <a:t> – Show daily/weekly nutrient intake, deficiencies, and progress toward health goals.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1527320" y="2259449"/>
            <a:ext cx="10607040" cy="1169551"/>
          </a:xfrm>
          <a:prstGeom prst="rect">
            <a:avLst/>
          </a:prstGeom>
          <a:noFill/>
        </p:spPr>
        <p:txBody>
          <a:bodyPr wrap="square" rtlCol="0">
            <a:spAutoFit/>
          </a:bodyPr>
          <a:lstStyle/>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1121982" y="881509"/>
            <a:ext cx="7214616" cy="461665"/>
          </a:xfrm>
          <a:prstGeom prst="rect">
            <a:avLst/>
          </a:prstGeom>
          <a:noFill/>
        </p:spPr>
        <p:txBody>
          <a:bodyPr wrap="square" rtlCol="0">
            <a:spAutoFit/>
          </a:bodyPr>
          <a:lstStyle/>
          <a:p>
            <a:r>
              <a:rPr lang="en-US" sz="2400" b="1" dirty="0"/>
              <a:t>Technology Used </a:t>
            </a:r>
            <a:endParaRPr lang="en-IN" sz="2400" b="1" dirty="0"/>
          </a:p>
        </p:txBody>
      </p:sp>
      <p:sp>
        <p:nvSpPr>
          <p:cNvPr id="5" name="TextBox 4">
            <a:extLst>
              <a:ext uri="{FF2B5EF4-FFF2-40B4-BE49-F238E27FC236}">
                <a16:creationId xmlns:a16="http://schemas.microsoft.com/office/drawing/2014/main" id="{A28BCAB0-EF39-009C-7A02-F4E66730AE3E}"/>
              </a:ext>
            </a:extLst>
          </p:cNvPr>
          <p:cNvSpPr txBox="1"/>
          <p:nvPr/>
        </p:nvSpPr>
        <p:spPr>
          <a:xfrm>
            <a:off x="1337481" y="1637731"/>
            <a:ext cx="9376012" cy="4247317"/>
          </a:xfrm>
          <a:prstGeom prst="rect">
            <a:avLst/>
          </a:prstGeom>
          <a:noFill/>
        </p:spPr>
        <p:txBody>
          <a:bodyPr wrap="square" rtlCol="0">
            <a:spAutoFit/>
          </a:bodyPr>
          <a:lstStyle/>
          <a:p>
            <a:pPr marL="285750" indent="-285750">
              <a:buFont typeface="Arial" panose="020B0604020202020204" pitchFamily="34" charset="0"/>
              <a:buChar char="•"/>
            </a:pPr>
            <a:r>
              <a:rPr lang="en-IN" sz="1800" b="1" dirty="0" err="1"/>
              <a:t>LangFlow</a:t>
            </a:r>
            <a:r>
              <a:rPr lang="en-IN" sz="1800" b="1" dirty="0"/>
              <a:t> platform –</a:t>
            </a:r>
            <a:r>
              <a:rPr lang="en-IN" sz="1800" dirty="0"/>
              <a:t> For designing and orchestrating multi-agent workflows visually. </a:t>
            </a:r>
          </a:p>
          <a:p>
            <a:endParaRPr lang="en-IN" sz="1800" dirty="0"/>
          </a:p>
          <a:p>
            <a:pPr marL="285750" indent="-285750">
              <a:buFont typeface="Arial" panose="020B0604020202020204" pitchFamily="34" charset="0"/>
              <a:buChar char="•"/>
            </a:pPr>
            <a:r>
              <a:rPr lang="en-IN" sz="1800" b="1" dirty="0"/>
              <a:t>IBM Granite model – </a:t>
            </a:r>
            <a:r>
              <a:rPr lang="en-IN" sz="1800" dirty="0"/>
              <a:t>for </a:t>
            </a:r>
            <a:r>
              <a:rPr lang="en-IN" sz="1800" dirty="0" err="1"/>
              <a:t>eg</a:t>
            </a:r>
            <a:r>
              <a:rPr lang="en-IN" sz="1800" dirty="0"/>
              <a:t> – ibm-granite-3-2-8b – For natural language understanding, reasoning, and personalization.  </a:t>
            </a:r>
          </a:p>
          <a:p>
            <a:endParaRPr lang="en-IN" sz="1800" dirty="0"/>
          </a:p>
          <a:p>
            <a:pPr marL="285750" indent="-285750">
              <a:buFont typeface="Arial" panose="020B0604020202020204" pitchFamily="34" charset="0"/>
              <a:buChar char="•"/>
            </a:pPr>
            <a:r>
              <a:rPr lang="en-IN" sz="1800" b="1" dirty="0"/>
              <a:t>IBM Cloud – </a:t>
            </a:r>
            <a:r>
              <a:rPr lang="en-IN" sz="1800" dirty="0"/>
              <a:t>It provides the infrastructure to build, deploy, and scale the Nutrition Agent efficiently. IBM Cloud enables a reliable, secure, and scalable environment for deploying the Nutrition Agent.  </a:t>
            </a:r>
          </a:p>
          <a:p>
            <a:endParaRPr lang="en-IN" sz="1800" dirty="0"/>
          </a:p>
          <a:p>
            <a:pPr marL="285750" indent="-285750">
              <a:buFont typeface="Arial" panose="020B0604020202020204" pitchFamily="34" charset="0"/>
              <a:buChar char="•"/>
            </a:pPr>
            <a:r>
              <a:rPr lang="en-IN" sz="1800" b="1" dirty="0"/>
              <a:t>RAG – </a:t>
            </a:r>
            <a:r>
              <a:rPr lang="en-IN" sz="1800" dirty="0"/>
              <a:t>RAG to fetch real data first, then generate intelligent answers, making the Nutrition Agent more trustworthy and effective. </a:t>
            </a:r>
          </a:p>
          <a:p>
            <a:endParaRPr lang="en-IN" sz="1800" dirty="0"/>
          </a:p>
          <a:p>
            <a:pPr marL="285750" indent="-285750">
              <a:buFont typeface="Arial" panose="020B0604020202020204" pitchFamily="34" charset="0"/>
              <a:buChar char="•"/>
            </a:pPr>
            <a:r>
              <a:rPr lang="en-IN" sz="1800" dirty="0"/>
              <a:t> </a:t>
            </a:r>
            <a:r>
              <a:rPr lang="en-IN" sz="1800" b="1" dirty="0"/>
              <a:t>IBM Watsonx.ai – </a:t>
            </a:r>
            <a:r>
              <a:rPr lang="en-IN" sz="1800" dirty="0"/>
              <a:t>For model deployment, embeddings, and AI governance.  </a:t>
            </a:r>
          </a:p>
          <a:p>
            <a:endParaRPr lang="en-IN" sz="1800" dirty="0"/>
          </a:p>
          <a:p>
            <a:pPr marL="285750" indent="-285750">
              <a:buFont typeface="Arial" panose="020B0604020202020204" pitchFamily="34" charset="0"/>
              <a:buChar char="•"/>
            </a:pPr>
            <a:r>
              <a:rPr lang="en-IN" sz="1800" b="1" dirty="0"/>
              <a:t>Vector Database (FAISS/Chroma) – </a:t>
            </a:r>
            <a:r>
              <a:rPr lang="en-IN" sz="1800" dirty="0"/>
              <a:t>For RAG-based nutritional data retrieval.</a:t>
            </a:r>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
        <p:nvSpPr>
          <p:cNvPr id="5" name="TextBox 4">
            <a:extLst>
              <a:ext uri="{FF2B5EF4-FFF2-40B4-BE49-F238E27FC236}">
                <a16:creationId xmlns:a16="http://schemas.microsoft.com/office/drawing/2014/main" id="{78BC4B86-48F7-8E59-5CE8-16798F2A94AD}"/>
              </a:ext>
            </a:extLst>
          </p:cNvPr>
          <p:cNvSpPr txBox="1"/>
          <p:nvPr/>
        </p:nvSpPr>
        <p:spPr>
          <a:xfrm>
            <a:off x="750627" y="1385248"/>
            <a:ext cx="10522424" cy="4031873"/>
          </a:xfrm>
          <a:prstGeom prst="rect">
            <a:avLst/>
          </a:prstGeom>
          <a:noFill/>
        </p:spPr>
        <p:txBody>
          <a:bodyPr wrap="square" rtlCol="0">
            <a:spAutoFit/>
          </a:bodyPr>
          <a:lstStyle/>
          <a:p>
            <a:pPr algn="just"/>
            <a:r>
              <a:rPr lang="en-US" sz="1600" dirty="0"/>
              <a:t>The proposed solution is a multi-agent AI-powered Nutrition Agent built using </a:t>
            </a:r>
            <a:r>
              <a:rPr lang="en-US" sz="1600" dirty="0" err="1"/>
              <a:t>LangFlow</a:t>
            </a:r>
            <a:r>
              <a:rPr lang="en-US" sz="1600" dirty="0"/>
              <a:t>, IBM watsonx.ai, and Granite Models to provide personalized, real-time dietary guidance. The system addresses challenges in diet planning, nutrition tracking, and preventive healthcare through an intelligent, modular architecture.</a:t>
            </a:r>
          </a:p>
          <a:p>
            <a:pPr algn="just"/>
            <a:endParaRPr lang="en-US" sz="1600" dirty="0"/>
          </a:p>
          <a:p>
            <a:pPr algn="just"/>
            <a:r>
              <a:rPr lang="en-US" sz="1600" dirty="0"/>
              <a:t>At its core, the solution uses a Retrieval-Augmented Generation (RAG) pipeline to fetch accurate nutritional data from trusted sources such as USDA and WHO datasets. This data is embedded and stored in a vector database, enabling the system to retrieve and summarize food nutrition details (calories, macros, vitamins) using Granite models.  </a:t>
            </a:r>
          </a:p>
          <a:p>
            <a:pPr algn="just"/>
            <a:r>
              <a:rPr lang="en-US" sz="1600" dirty="0"/>
              <a:t>The system consists of four key agents: </a:t>
            </a:r>
          </a:p>
          <a:p>
            <a:pPr marL="285750" indent="-285750" algn="just">
              <a:buFont typeface="Arial" panose="020B0604020202020204" pitchFamily="34" charset="0"/>
              <a:buChar char="•"/>
            </a:pPr>
            <a:r>
              <a:rPr lang="en-US" sz="1600" dirty="0"/>
              <a:t>Nutrition Knowledge Agent retrieves and summarizes nutritional information using RAG.  </a:t>
            </a:r>
          </a:p>
          <a:p>
            <a:pPr marL="285750" indent="-285750" algn="just">
              <a:buFont typeface="Arial" panose="020B0604020202020204" pitchFamily="34" charset="0"/>
              <a:buChar char="•"/>
            </a:pPr>
            <a:r>
              <a:rPr lang="en-US" sz="1600" dirty="0"/>
              <a:t>Diet Recommendation Agent generates personalized meal plans based on user inputs such as age, health conditions, dietary preferences, and fitness goals.  </a:t>
            </a:r>
          </a:p>
          <a:p>
            <a:pPr marL="285750" indent="-285750" algn="just">
              <a:buFont typeface="Arial" panose="020B0604020202020204" pitchFamily="34" charset="0"/>
              <a:buChar char="•"/>
            </a:pPr>
            <a:r>
              <a:rPr lang="en-US" sz="1600" dirty="0"/>
              <a:t>Health Advisory Agent provides preventive health suggestions, including disease-specific diets (e.g., diabetes-friendly or heart-healthy plans). </a:t>
            </a:r>
          </a:p>
          <a:p>
            <a:pPr marL="285750" indent="-285750" algn="just">
              <a:buFont typeface="Arial" panose="020B0604020202020204" pitchFamily="34" charset="0"/>
              <a:buChar char="•"/>
            </a:pPr>
            <a:r>
              <a:rPr lang="en-US" sz="1600" dirty="0"/>
              <a:t>Food Log &amp; Feedback Agent allows users to log meals via text, voice, or images and delivers instant nutritional analysis with actionable feedback. </a:t>
            </a:r>
            <a:endParaRPr lang="en-IN" sz="1600"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815882"/>
          </a:xfrm>
          <a:prstGeom prst="rect">
            <a:avLst/>
          </a:prstGeom>
          <a:noFill/>
        </p:spPr>
        <p:txBody>
          <a:bodyPr wrap="square" rtlCol="0">
            <a:spAutoFit/>
          </a:bodyPr>
          <a:lstStyle/>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7" name="TextBox 6">
            <a:extLst>
              <a:ext uri="{FF2B5EF4-FFF2-40B4-BE49-F238E27FC236}">
                <a16:creationId xmlns:a16="http://schemas.microsoft.com/office/drawing/2014/main" id="{733347DA-142A-AFD3-6406-BF8E36EB0C7C}"/>
              </a:ext>
            </a:extLst>
          </p:cNvPr>
          <p:cNvSpPr txBox="1"/>
          <p:nvPr/>
        </p:nvSpPr>
        <p:spPr>
          <a:xfrm>
            <a:off x="895349" y="1343025"/>
            <a:ext cx="10580847" cy="3477875"/>
          </a:xfrm>
          <a:prstGeom prst="rect">
            <a:avLst/>
          </a:prstGeom>
          <a:noFill/>
        </p:spPr>
        <p:txBody>
          <a:bodyPr wrap="square">
            <a:spAutoFit/>
          </a:bodyPr>
          <a:lstStyle/>
          <a:p>
            <a:pPr marL="457200" indent="-457200" algn="just">
              <a:buFont typeface="+mj-lt"/>
              <a:buAutoNum type="arabicPeriod"/>
            </a:pPr>
            <a:r>
              <a:rPr lang="en-IN" sz="2000" dirty="0"/>
              <a:t>Chat Input – Interface where users enter their queries, preferences, or meal details (text/voice/image).  </a:t>
            </a:r>
          </a:p>
          <a:p>
            <a:pPr marL="457200" indent="-457200" algn="just">
              <a:buFont typeface="+mj-lt"/>
              <a:buAutoNum type="arabicPeriod"/>
            </a:pPr>
            <a:r>
              <a:rPr lang="en-IN" sz="2000" dirty="0"/>
              <a:t>IBM </a:t>
            </a:r>
            <a:r>
              <a:rPr lang="en-IN" sz="2000" dirty="0" err="1"/>
              <a:t>watsonx</a:t>
            </a:r>
            <a:r>
              <a:rPr lang="en-IN" sz="2000" dirty="0"/>
              <a:t> AI Agent - Processes user input using Granite models to generate personalized nutrition insights and recommendations. </a:t>
            </a:r>
          </a:p>
          <a:p>
            <a:pPr marL="457200" indent="-457200" algn="just">
              <a:buFont typeface="+mj-lt"/>
              <a:buAutoNum type="arabicPeriod"/>
            </a:pPr>
            <a:r>
              <a:rPr lang="en-IN" sz="2000" dirty="0"/>
              <a:t> Name of IBM Granite model - Granite-4.0-8B-Instruct $\</a:t>
            </a:r>
            <a:r>
              <a:rPr lang="en-IN" sz="2000" dirty="0" err="1"/>
              <a:t>rightarrow</a:t>
            </a:r>
            <a:r>
              <a:rPr lang="en-IN" sz="2000" dirty="0"/>
              <a:t>$ Fast, efficient for real-time diet recommendations.  </a:t>
            </a:r>
          </a:p>
          <a:p>
            <a:pPr marL="457200" indent="-457200" algn="just">
              <a:buFont typeface="+mj-lt"/>
              <a:buAutoNum type="arabicPeriod"/>
            </a:pPr>
            <a:r>
              <a:rPr lang="en-IN" sz="2000" dirty="0"/>
              <a:t>Chat output -Displays AI-generated responses such as diet plans, nutritional analysis, and health suggestions.  </a:t>
            </a:r>
          </a:p>
          <a:p>
            <a:pPr marL="457200" indent="-457200" algn="just">
              <a:buFont typeface="+mj-lt"/>
              <a:buAutoNum type="arabicPeriod"/>
            </a:pPr>
            <a:r>
              <a:rPr lang="en-IN" sz="2000" dirty="0"/>
              <a:t>File component - Stores and retrieves user data, meal logs, and nutritional datasets for analysis and tracking.  </a:t>
            </a:r>
          </a:p>
          <a:p>
            <a:pPr marL="457200" indent="-457200" algn="just">
              <a:buFont typeface="+mj-lt"/>
              <a:buAutoNum type="arabicPeriod"/>
            </a:pPr>
            <a:r>
              <a:rPr lang="en-IN" sz="2000" dirty="0"/>
              <a:t>Add name of any other component used.</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73FB99E-2BD5-CCD1-3ADD-FF9592AC9FA5}"/>
              </a:ext>
            </a:extLst>
          </p:cNvPr>
          <p:cNvSpPr txBox="1"/>
          <p:nvPr/>
        </p:nvSpPr>
        <p:spPr>
          <a:xfrm>
            <a:off x="914400" y="447645"/>
            <a:ext cx="6096000" cy="584775"/>
          </a:xfrm>
          <a:prstGeom prst="rect">
            <a:avLst/>
          </a:prstGeom>
          <a:noFill/>
        </p:spPr>
        <p:txBody>
          <a:bodyPr wrap="square">
            <a:spAutoFit/>
          </a:bodyPr>
          <a:lstStyle/>
          <a:p>
            <a:pPr marL="0" marR="0" lvl="0" indent="0" algn="l" rtl="0">
              <a:lnSpc>
                <a:spcPct val="100000"/>
              </a:lnSpc>
              <a:spcBef>
                <a:spcPts val="0"/>
              </a:spcBef>
              <a:spcAft>
                <a:spcPts val="0"/>
              </a:spcAft>
              <a:buClr>
                <a:srgbClr val="051D3A"/>
              </a:buClr>
              <a:buSzPts val="3500"/>
              <a:buFont typeface="Times New Roman"/>
              <a:buNone/>
            </a:pPr>
            <a:r>
              <a:rPr lang="en-US" sz="3200" b="1" dirty="0" err="1">
                <a:sym typeface="Times New Roman"/>
              </a:rPr>
              <a:t>Langflow</a:t>
            </a:r>
            <a:r>
              <a:rPr lang="en-US" sz="3200" b="1" i="0" u="none" strike="noStrike" cap="none" dirty="0">
                <a:solidFill>
                  <a:srgbClr val="051D3A"/>
                </a:solidFill>
                <a:latin typeface="Times New Roman"/>
                <a:ea typeface="Times New Roman"/>
                <a:cs typeface="Times New Roman"/>
                <a:sym typeface="Times New Roman"/>
              </a:rPr>
              <a:t> </a:t>
            </a:r>
            <a:r>
              <a:rPr lang="en-US" sz="3200" b="1" dirty="0">
                <a:sym typeface="Times New Roman"/>
              </a:rPr>
              <a:t>workflow -</a:t>
            </a:r>
          </a:p>
        </p:txBody>
      </p:sp>
      <p:pic>
        <p:nvPicPr>
          <p:cNvPr id="9" name="Graphic 8">
            <a:extLst>
              <a:ext uri="{FF2B5EF4-FFF2-40B4-BE49-F238E27FC236}">
                <a16:creationId xmlns:a16="http://schemas.microsoft.com/office/drawing/2014/main" id="{5E41795F-644A-CD50-16D3-0A3768FC5C5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9649" y="1222445"/>
            <a:ext cx="10191751" cy="4463980"/>
          </a:xfrm>
          <a:prstGeom prst="rect">
            <a:avLst/>
          </a:prstGeom>
        </p:spPr>
      </p:pic>
    </p:spTree>
    <p:extLst>
      <p:ext uri="{BB962C8B-B14F-4D97-AF65-F5344CB8AC3E}">
        <p14:creationId xmlns:p14="http://schemas.microsoft.com/office/powerpoint/2010/main" val="1142268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573E260-656E-3F14-CA7C-9B18ADA1E4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599" y="2166275"/>
            <a:ext cx="10820401" cy="3497000"/>
          </a:xfrm>
          <a:prstGeom prst="rect">
            <a:avLst/>
          </a:prstGeom>
        </p:spPr>
      </p:pic>
      <p:sp>
        <p:nvSpPr>
          <p:cNvPr id="5" name="TextBox 4">
            <a:extLst>
              <a:ext uri="{FF2B5EF4-FFF2-40B4-BE49-F238E27FC236}">
                <a16:creationId xmlns:a16="http://schemas.microsoft.com/office/drawing/2014/main" id="{4D908755-6B35-5848-5171-C661A32B1261}"/>
              </a:ext>
            </a:extLst>
          </p:cNvPr>
          <p:cNvSpPr txBox="1"/>
          <p:nvPr/>
        </p:nvSpPr>
        <p:spPr>
          <a:xfrm>
            <a:off x="695325" y="846237"/>
            <a:ext cx="6096000" cy="523220"/>
          </a:xfrm>
          <a:prstGeom prst="rect">
            <a:avLst/>
          </a:prstGeom>
          <a:noFill/>
        </p:spPr>
        <p:txBody>
          <a:bodyPr wrap="square">
            <a:spAutoFit/>
          </a:bodyPr>
          <a:lstStyle/>
          <a:p>
            <a:r>
              <a:rPr lang="en-IN" sz="2800" b="1" dirty="0"/>
              <a:t>Architecture blueprint</a:t>
            </a:r>
          </a:p>
        </p:txBody>
      </p:sp>
    </p:spTree>
    <p:extLst>
      <p:ext uri="{BB962C8B-B14F-4D97-AF65-F5344CB8AC3E}">
        <p14:creationId xmlns:p14="http://schemas.microsoft.com/office/powerpoint/2010/main" val="1077337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6" name="TextBox 5">
            <a:extLst>
              <a:ext uri="{FF2B5EF4-FFF2-40B4-BE49-F238E27FC236}">
                <a16:creationId xmlns:a16="http://schemas.microsoft.com/office/drawing/2014/main" id="{A68ABAFB-10F2-C87A-7E2B-24CC74EB671C}"/>
              </a:ext>
            </a:extLst>
          </p:cNvPr>
          <p:cNvSpPr txBox="1"/>
          <p:nvPr/>
        </p:nvSpPr>
        <p:spPr>
          <a:xfrm>
            <a:off x="561975" y="1084154"/>
            <a:ext cx="6096000" cy="4739759"/>
          </a:xfrm>
          <a:prstGeom prst="rect">
            <a:avLst/>
          </a:prstGeom>
          <a:noFill/>
        </p:spPr>
        <p:txBody>
          <a:bodyPr wrap="square">
            <a:spAutoFit/>
          </a:bodyPr>
          <a:lstStyle/>
          <a:p>
            <a:pPr algn="just"/>
            <a:r>
              <a:rPr lang="en-US" sz="1600" dirty="0"/>
              <a:t>Role of Agentic AI in Nutrition Agent</a:t>
            </a:r>
          </a:p>
          <a:p>
            <a:pPr algn="just"/>
            <a:r>
              <a:rPr lang="en-US" sz="1600" dirty="0"/>
              <a:t>Agentic AI enables the Nutrition Agent to function as an intelligent, autonomous system rather than a simple chatbot. Using IBM watsonx.ai and IBM Granite models, it coordinates multiple specialized agents to deliver personalized nutrition guidance.  Each agent performs a specific role—such as retrieving nutritional data, generating diet plans, providing health advice, and analyzing food logs—while working collaboratively. This multi-agent approach ensures efficient task execution and accurate results.  Agentic AI also brings context awareness, understanding user details like age, health conditions, and fitness goals to generate tailored recommendations. It supports real-time adaptation, continuously updating suggestions based on user inputs like daily meals.  Additionally, agents communicate with each other, enabling better decision-making and improved outcomes. Overall, Agentic AI makes the system proactive, personalized, and goal-driven, acting like a smart digital nutritionist that helps users maintain a healthy lifestyle. </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1077218"/>
          </a:xfrm>
          <a:prstGeom prst="rect">
            <a:avLst/>
          </a:prstGeom>
          <a:noFill/>
        </p:spPr>
        <p:txBody>
          <a:bodyPr wrap="square" rtlCol="0">
            <a:spAutoFit/>
          </a:bodyPr>
          <a:lstStyle/>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
        <p:nvSpPr>
          <p:cNvPr id="5" name="TextBox 4">
            <a:extLst>
              <a:ext uri="{FF2B5EF4-FFF2-40B4-BE49-F238E27FC236}">
                <a16:creationId xmlns:a16="http://schemas.microsoft.com/office/drawing/2014/main" id="{0CB8865A-FB40-3BF4-38AB-4536FF9B2C41}"/>
              </a:ext>
            </a:extLst>
          </p:cNvPr>
          <p:cNvSpPr txBox="1"/>
          <p:nvPr/>
        </p:nvSpPr>
        <p:spPr>
          <a:xfrm>
            <a:off x="971550" y="1207008"/>
            <a:ext cx="9496425" cy="5016758"/>
          </a:xfrm>
          <a:prstGeom prst="rect">
            <a:avLst/>
          </a:prstGeom>
          <a:noFill/>
        </p:spPr>
        <p:txBody>
          <a:bodyPr wrap="square">
            <a:spAutoFit/>
          </a:bodyPr>
          <a:lstStyle/>
          <a:p>
            <a:pPr marL="457200" indent="-457200" algn="just">
              <a:buFont typeface="+mj-lt"/>
              <a:buAutoNum type="arabicPeriod"/>
            </a:pPr>
            <a:r>
              <a:rPr lang="en-IN" sz="2000" dirty="0" err="1"/>
              <a:t>Langflow</a:t>
            </a:r>
            <a:r>
              <a:rPr lang="en-IN" sz="2000" dirty="0"/>
              <a:t> platform -For designing and orchestrating multi-agent workflows visually  </a:t>
            </a:r>
          </a:p>
          <a:p>
            <a:pPr marL="457200" indent="-457200" algn="just">
              <a:buFont typeface="+mj-lt"/>
              <a:buAutoNum type="arabicPeriod"/>
            </a:pPr>
            <a:endParaRPr lang="en-IN" sz="2000" dirty="0"/>
          </a:p>
          <a:p>
            <a:pPr marL="457200" indent="-457200" algn="just">
              <a:buFont typeface="+mj-lt"/>
              <a:buAutoNum type="arabicPeriod"/>
            </a:pPr>
            <a:r>
              <a:rPr lang="en-IN" sz="2000" dirty="0"/>
              <a:t>IBM </a:t>
            </a:r>
            <a:r>
              <a:rPr lang="en-IN" sz="2000" dirty="0" err="1"/>
              <a:t>Grainte</a:t>
            </a:r>
            <a:r>
              <a:rPr lang="en-IN" sz="2000" dirty="0"/>
              <a:t> model - for </a:t>
            </a:r>
            <a:r>
              <a:rPr lang="en-IN" sz="2000" dirty="0" err="1"/>
              <a:t>eg</a:t>
            </a:r>
            <a:r>
              <a:rPr lang="en-IN" sz="2000" dirty="0"/>
              <a:t> – ibm-granite-3-2-8b – For natural language understanding, reasoning, and personalization  </a:t>
            </a:r>
          </a:p>
          <a:p>
            <a:pPr marL="457200" indent="-457200" algn="just">
              <a:buFont typeface="+mj-lt"/>
              <a:buAutoNum type="arabicPeriod"/>
            </a:pPr>
            <a:endParaRPr lang="en-IN" sz="2000" dirty="0"/>
          </a:p>
          <a:p>
            <a:pPr marL="457200" indent="-457200" algn="just">
              <a:buFont typeface="+mj-lt"/>
              <a:buAutoNum type="arabicPeriod"/>
            </a:pPr>
            <a:r>
              <a:rPr lang="en-IN" sz="2000" dirty="0"/>
              <a:t>IBM Cloud – It provides the infrastructure to build, deploy, and scale the Nutrition Agent efficiently. IBM Cloud enables a reliable, secure, and scalable environment for deploying the Nutrition Agent.  </a:t>
            </a:r>
          </a:p>
          <a:p>
            <a:pPr marL="457200" indent="-457200" algn="just">
              <a:buFont typeface="+mj-lt"/>
              <a:buAutoNum type="arabicPeriod"/>
            </a:pPr>
            <a:endParaRPr lang="en-IN" sz="2000" dirty="0"/>
          </a:p>
          <a:p>
            <a:pPr marL="457200" indent="-457200" algn="just">
              <a:buFont typeface="+mj-lt"/>
              <a:buAutoNum type="arabicPeriod"/>
            </a:pPr>
            <a:r>
              <a:rPr lang="en-IN" sz="2000" dirty="0"/>
              <a:t>RAG– RAG to fetch real data first, then generate intelligent answers, making the Nutrition Agent more trustworthy and effective.  </a:t>
            </a:r>
          </a:p>
          <a:p>
            <a:pPr marL="457200" indent="-457200" algn="just">
              <a:buFont typeface="+mj-lt"/>
              <a:buAutoNum type="arabicPeriod"/>
            </a:pPr>
            <a:endParaRPr lang="en-IN" sz="2000" dirty="0"/>
          </a:p>
          <a:p>
            <a:pPr marL="457200" indent="-457200" algn="just">
              <a:buFont typeface="+mj-lt"/>
              <a:buAutoNum type="arabicPeriod"/>
            </a:pPr>
            <a:r>
              <a:rPr lang="en-IN" sz="2000" dirty="0"/>
              <a:t>IBM Watsonx.ai - For model deployment, embeddings, and AI governance </a:t>
            </a:r>
          </a:p>
          <a:p>
            <a:pPr marL="457200" indent="-457200" algn="just">
              <a:buFont typeface="+mj-lt"/>
              <a:buAutoNum type="arabicPeriod"/>
            </a:pPr>
            <a:endParaRPr lang="en-IN" sz="2000" dirty="0"/>
          </a:p>
          <a:p>
            <a:pPr marL="457200" indent="-457200" algn="just">
              <a:buFont typeface="+mj-lt"/>
              <a:buAutoNum type="arabicPeriod"/>
            </a:pPr>
            <a:r>
              <a:rPr lang="en-IN" sz="2000" dirty="0"/>
              <a:t>Vector Database (FAISS/Chroma) – For RAG-based nutritional data retrieval </a:t>
            </a:r>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6" name="TextBox 5">
            <a:extLst>
              <a:ext uri="{FF2B5EF4-FFF2-40B4-BE49-F238E27FC236}">
                <a16:creationId xmlns:a16="http://schemas.microsoft.com/office/drawing/2014/main" id="{378CBDC4-C4F5-7BE6-41C3-7D3CF299616C}"/>
              </a:ext>
            </a:extLst>
          </p:cNvPr>
          <p:cNvSpPr txBox="1"/>
          <p:nvPr/>
        </p:nvSpPr>
        <p:spPr>
          <a:xfrm>
            <a:off x="657224" y="1048833"/>
            <a:ext cx="10448925" cy="5324535"/>
          </a:xfrm>
          <a:prstGeom prst="rect">
            <a:avLst/>
          </a:prstGeom>
          <a:noFill/>
        </p:spPr>
        <p:txBody>
          <a:bodyPr wrap="square">
            <a:spAutoFit/>
          </a:bodyPr>
          <a:lstStyle/>
          <a:p>
            <a:pPr algn="just">
              <a:tabLst>
                <a:tab pos="4124325" algn="l"/>
              </a:tabLst>
            </a:pPr>
            <a:r>
              <a:rPr lang="en-IN" sz="2000" dirty="0"/>
              <a:t>The proposed Nutrition Agent stands out by combining Agentic AI, RAG, and personalization into a single intelligent system.  Multi-Agent Intelligence – Instead of a single chatbot, multiple specialized agents collaborate to deliver accurate and context-aware nutrition guidance.</a:t>
            </a:r>
          </a:p>
          <a:p>
            <a:pPr marL="457200" indent="-457200" algn="just">
              <a:buFont typeface="+mj-lt"/>
              <a:buAutoNum type="arabicPeriod"/>
              <a:tabLst>
                <a:tab pos="4124325" algn="l"/>
              </a:tabLst>
            </a:pPr>
            <a:r>
              <a:rPr lang="en-IN" sz="2000" dirty="0"/>
              <a:t>RAG-Based Accuracy – Integrates real-time data retrieval with AI generation, reducing misinformation and ensuring trustworthy recommendations.</a:t>
            </a:r>
          </a:p>
          <a:p>
            <a:pPr marL="457200" indent="-457200" algn="just">
              <a:buFont typeface="+mj-lt"/>
              <a:buAutoNum type="arabicPeriod"/>
              <a:tabLst>
                <a:tab pos="4124325" algn="l"/>
              </a:tabLst>
            </a:pPr>
            <a:r>
              <a:rPr lang="en-IN" sz="2000" dirty="0"/>
              <a:t>Hyper-Personalization – Tailors diet plans based on health conditions, cultural preferences, and fitness goals.</a:t>
            </a:r>
          </a:p>
          <a:p>
            <a:pPr marL="457200" indent="-457200" algn="just">
              <a:buFont typeface="+mj-lt"/>
              <a:buAutoNum type="arabicPeriod"/>
              <a:tabLst>
                <a:tab pos="4124325" algn="l"/>
              </a:tabLst>
            </a:pPr>
            <a:r>
              <a:rPr lang="en-IN" sz="2000" dirty="0"/>
              <a:t>Real-Time Feedback Loop – Continuously adapts recommendations based on daily food logs and user </a:t>
            </a:r>
            <a:r>
              <a:rPr lang="en-IN" sz="2000" dirty="0" err="1"/>
              <a:t>behavior</a:t>
            </a:r>
            <a:r>
              <a:rPr lang="en-IN" sz="2000" dirty="0"/>
              <a:t>.</a:t>
            </a:r>
          </a:p>
          <a:p>
            <a:pPr marL="457200" indent="-457200" algn="just">
              <a:buFont typeface="+mj-lt"/>
              <a:buAutoNum type="arabicPeriod"/>
              <a:tabLst>
                <a:tab pos="4124325" algn="l"/>
              </a:tabLst>
            </a:pPr>
            <a:r>
              <a:rPr lang="en-IN" sz="2000" dirty="0"/>
              <a:t>Multi-Modal Input – Supports text, voice, and image-based meal tracking for better usability.</a:t>
            </a:r>
          </a:p>
          <a:p>
            <a:pPr marL="457200" indent="-457200" algn="just">
              <a:buFont typeface="+mj-lt"/>
              <a:buAutoNum type="arabicPeriod"/>
              <a:tabLst>
                <a:tab pos="4124325" algn="l"/>
              </a:tabLst>
            </a:pPr>
            <a:r>
              <a:rPr lang="en-IN" sz="2000" dirty="0"/>
              <a:t>Preventive Healthcare Focus – Goes beyond diet planning to provide disease-specific nutrition advice.</a:t>
            </a:r>
          </a:p>
          <a:p>
            <a:pPr marL="457200" indent="-457200" algn="just">
              <a:buFont typeface="+mj-lt"/>
              <a:buAutoNum type="arabicPeriod"/>
              <a:tabLst>
                <a:tab pos="4124325" algn="l"/>
              </a:tabLst>
            </a:pPr>
            <a:r>
              <a:rPr lang="en-IN" sz="2000" dirty="0"/>
              <a:t>Scalable &amp; Enterprise-Ready – Built on IBM watsonx.ai with IBM Granite models, ensuring reliability and governance.  This makes the solution a smart, adaptive, and proactive digital nutritionist, not just a static diet recommendation tool. </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https://github.com/Sejal-Singh24/Nutrition-Agent.git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  </a:t>
            </a:r>
            <a:br>
              <a:rPr lang="en-US" sz="1850" dirty="0">
                <a:solidFill>
                  <a:srgbClr val="2B3541"/>
                </a:solidFill>
                <a:latin typeface="Times New Roman"/>
                <a:ea typeface="Times New Roman"/>
                <a:cs typeface="Times New Roman"/>
                <a:sym typeface="Times New Roman"/>
              </a:rPr>
            </a:b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B06666FA-59DA-8B3E-50D3-B1FD6DDBF606}"/>
              </a:ext>
            </a:extLst>
          </p:cNvPr>
          <p:cNvSpPr txBox="1"/>
          <p:nvPr/>
        </p:nvSpPr>
        <p:spPr>
          <a:xfrm>
            <a:off x="1218724" y="1275133"/>
            <a:ext cx="9214580" cy="3477875"/>
          </a:xfrm>
          <a:prstGeom prst="rect">
            <a:avLst/>
          </a:prstGeom>
          <a:noFill/>
        </p:spPr>
        <p:txBody>
          <a:bodyPr wrap="square">
            <a:spAutoFit/>
          </a:bodyPr>
          <a:lstStyle/>
          <a:p>
            <a:pPr algn="just"/>
            <a:r>
              <a:rPr lang="en-US" sz="2000" dirty="0"/>
              <a:t>1.Integration with Wearables &amp; Health Devices –  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  </a:t>
            </a:r>
          </a:p>
          <a:p>
            <a:pPr algn="just"/>
            <a:endParaRPr lang="en-US" sz="2000" dirty="0"/>
          </a:p>
          <a:p>
            <a:pPr algn="just"/>
            <a:r>
              <a:rPr lang="en-US" sz="2000" dirty="0"/>
              <a:t>2.AI-Powered Voice Assistant &amp; Multilingual Support –  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 </a:t>
            </a:r>
            <a:endParaRPr lang="en-IN" sz="2000" dirty="0"/>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1233</TotalTime>
  <Words>1326</Words>
  <Application>Microsoft Office PowerPoint</Application>
  <PresentationFormat>Widescreen</PresentationFormat>
  <Paragraphs>107</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SEJAL SINGH</cp:lastModifiedBy>
  <cp:revision>26</cp:revision>
  <dcterms:created xsi:type="dcterms:W3CDTF">2025-07-08T05:06:56Z</dcterms:created>
  <dcterms:modified xsi:type="dcterms:W3CDTF">2026-06-05T18:07:43Z</dcterms:modified>
</cp:coreProperties>
</file>